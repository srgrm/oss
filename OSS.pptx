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charts/chart1.xml" ContentType="application/vnd.openxmlformats-officedocument.drawingml.chart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437374be-95e7-a487-e0f0-f0266cd38746}">
          <p14:sldIdLst>
            <p14:sldId id="256"/>
          </p14:sldIdLst>
        </p14:section>
        <p14:section name="The problem" id="{620e394b-c09d-ecef-52e0-4380cabf160b}">
          <p14:sldIdLst>
            <p14:sldId id="257"/>
            <p14:sldId id="258"/>
          </p14:sldIdLst>
        </p14:section>
        <p14:section name="Three tasks" id="{a9e86eaa-e116-0b16-2500-1125171cc890}">
          <p14:sldIdLst>
            <p14:sldId id="259"/>
            <p14:sldId id="260"/>
            <p14:sldId id="261"/>
            <p14:sldId id="262"/>
            <p14:sldId id="263"/>
          </p14:sldIdLst>
        </p14:section>
        <p14:section name="The repository" id="{b09e6900-d967-6f62-834a-da34a2bdc021}">
          <p14:sldIdLst>
            <p14:sldId id="264"/>
            <p14:sldId id="265"/>
            <p14:sldId id="266"/>
            <p14:sldId id="267"/>
          </p14:sldIdLst>
        </p14:section>
        <p14:section name="GRM search" id="{bc9d84a5-c2f2-cbec-fcb2-0510fbc0644b}">
          <p14:sldIdLst>
            <p14:sldId id="268"/>
            <p14:sldId id="269"/>
            <p14:sldId id="270"/>
            <p14:sldId id="271"/>
            <p14:sldId id="272"/>
            <p14:sldId id="273"/>
          </p14:sldIdLst>
        </p14:section>
        <p14:section name="Results" id="{711ae42e-e5e2-89df-634f-351e48155af8}">
          <p14:sldIdLst>
            <p14:sldId id="274"/>
          </p14:sldIdLst>
        </p14:section>
        <p14:section name="Wrap-up" id="{86feb31c-beea-0dd4-d093-338f62f25d9c}">
          <p14:sldIdLst>
            <p14:sldId id="275"/>
            <p14:sldId id="27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600" b="0" i="0" u="none" strike="noStrike">
                <a:solidFill>
                  <a:schemeClr val="tx2"/>
                </a:solidFill>
                <a:latin typeface="+mn-lt"/>
              </a:defRPr>
            </a:pPr>
            <a:r>
              <a:rPr sz="1600" b="0" i="0" u="none" strike="noStrike">
                <a:solidFill>
                  <a:schemeClr val="tx2"/>
                </a:solidFill>
                <a:latin typeface="+mn-lt"/>
              </a:rPr>
              <a:t>OSS Task 1 – test set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Macro F1 (higher is better)</c:v>
                </c:pt>
              </c:strCache>
            </c:strRef>
          </c:tx>
          <c:spPr>
            <a:solidFill>
              <a:srgbClr val="1F8A70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300" u="none">
                    <a:solidFill>
                      <a:schemeClr val="tx1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GRM entry</c:v>
                  </c:pt>
                  <c:pt idx="1">
                    <c:v>Organisers' baseline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0.62</c:v>
                </c:pt>
                <c:pt idx="1">
                  <c:v>0.65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Expected cost (lower is better)</c:v>
                </c:pt>
              </c:strCache>
            </c:strRef>
          </c:tx>
          <c:spPr>
            <a:solidFill>
              <a:srgbClr val="FF6B5B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300" u="none">
                    <a:solidFill>
                      <a:schemeClr val="tx1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GRM entry</c:v>
                  </c:pt>
                  <c:pt idx="1">
                    <c:v>Organisers' baseline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0.17</c:v>
                </c:pt>
                <c:pt idx="1">
                  <c:v>0.12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300" u="none">
                  <a:solidFill>
                    <a:schemeClr val="tx1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chemeClr val="tx1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8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300">
              <a:solidFill>
                <a:schemeClr val="tx1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talk covers the challenge tasks, the code in the repository and the GRM search used to choose the training configuration.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question of the challenge: replace or support the expert rating with a model that watches the same video.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Several videos belong to the same student, so the validation split keeps a student on one side only.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Example: rater scores averaging 19.3 fall into class 1, intermediate.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radar shows a made-up student before and after training, to illustrate what the eight items capture.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object keeps a track id over time; a second needle opens a new track.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training script reports all three after every epoch and picks the best epoch by F1 minus expected cost.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Task 3 swaps the clip encoder for a frame encoder with an FPN, U-Net or simple decoder producing heatmaps.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32 backbones, 7 heads, 7 losses, 8 optimisers and 10 schedules already give about 125 thousand combinations.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Using the raw early score as an RL reward is the baseline that GRM is compared against.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follows the two-stage description of the GRM entry in the challenge paper and the general GRM framework of the thesis.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StepUP variant fitted Perf ≈ w1·P1 + w2·P2 on fifteen runs per state; the OGB variant used ten runs per state.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penalty for an invalid configuration is set from the rewards seen so far when it is not fixed in CONFIG.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 choice can be random, round robin, least visited or greedy; updates are Q-learning or bandit style.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same modes exist in the Task 2 and Task 3 scripts; grm_full runs everything in one call.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OSS setup: R(2+1)D-18, 16 frames at 128 pixels, AdamW, learning rate 1e-5 with plateau schedule, batch size 4. The baseline still leads on Task 1, so there is room to improve.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CUDA 11.4 machines use the cu118 requirements, CUDA 12.2 machines the cu121 ones.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828800"/>
            <a:ext cx="603504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840480"/>
            <a:ext cx="603504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accent5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2377440"/>
            <a:ext cx="777240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3657600"/>
            <a:ext cx="77724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accent5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hyperlink" Target="https://opencas.dkfz.de/endovis/challenges/2025/" TargetMode="External"/><Relationship Id="rId2" Type="http://schemas.openxmlformats.org/officeDocument/2006/relationships/hyperlink" Target="https://arxiv.org/abs/2605.22200" TargetMode="External"/><Relationship Id="rId3" Type="http://schemas.openxmlformats.org/officeDocument/2006/relationships/hyperlink" Target="https://cora.ucc.ie/items/6cf46796-173c-4426-99bd-676e11656485" TargetMode="External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828800"/>
            <a:ext cx="6035040" cy="18288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surgical skill from video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840480"/>
            <a:ext cx="60350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5"/>
                </a:solidFill>
              </a:rPr>
              <a:t>Open Suturing Skills challenge · three tasks, one repository, and a GRM search over models and hyper-parameters</a:t>
            </a:r>
            <a:endParaRPr lang="en-US" sz="1800" dirty="0"/>
          </a:p>
        </p:txBody>
      </p:sp>
      <p:sp>
        <p:nvSpPr>
          <p:cNvPr id="4" name="title disc"/>
          <p:cNvSpPr/>
          <p:nvPr/>
        </p:nvSpPr>
        <p:spPr>
          <a:xfrm>
            <a:off x="7040880" y="1097280"/>
            <a:ext cx="4663440" cy="4663440"/>
          </a:xfrm>
          <a:prstGeom prst="ellipse">
            <a:avLst/>
          </a:prstGeom>
          <a:solidFill>
            <a:schemeClr val="bg2"/>
          </a:solidFill>
          <a:ln w="38100">
            <a:solidFill>
              <a:schemeClr val="accent5"/>
            </a:solidFill>
            <a:prstDash val="solid"/>
          </a:ln>
        </p:spPr>
      </p:sp>
      <p:pic>
        <p:nvPicPr>
          <p:cNvPr id="5" name="title_pad" descr="/tmp/claude-0/-home-claude/5c2f54b0-55e1-5fb3-9d31-8a6b3ae7052c/scratchpad/deck_oss/img/title_pa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2053550"/>
            <a:ext cx="4114800" cy="26594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58521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Team Saeid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Today, skill is rated by people watching videos</a:t>
            </a:r>
            <a:endParaRPr lang="en-US" sz="3000" dirty="0"/>
          </a:p>
        </p:txBody>
      </p:sp>
      <p:pic>
        <p:nvPicPr>
          <p:cNvPr id="3" name="problem" descr="/tmp/claude-0/-home-claude/5c2f54b0-55e1-5fb3-9d31-8a6b3ae7052c/scratchpad/deck_oss/img/proble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4802" y="1234440"/>
            <a:ext cx="10991916" cy="3657600"/>
          </a:xfrm>
          <a:prstGeom prst="rect">
            <a:avLst/>
          </a:prstGeom>
        </p:spPr>
      </p:pic>
      <p:sp>
        <p:nvSpPr>
          <p:cNvPr id="4" name="card Slow"/>
          <p:cNvSpPr/>
          <p:nvPr/>
        </p:nvSpPr>
        <p:spPr>
          <a:xfrm>
            <a:off x="548640" y="5074920"/>
            <a:ext cx="352044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dot Slow"/>
          <p:cNvSpPr/>
          <p:nvPr/>
        </p:nvSpPr>
        <p:spPr>
          <a:xfrm>
            <a:off x="749808" y="5294376"/>
            <a:ext cx="201168" cy="201168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051560" y="516636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Slow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749808" y="5641848"/>
            <a:ext cx="31181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Each video needs three experts and a full OSATS sheet.</a:t>
            </a:r>
            <a:endParaRPr lang="en-US" sz="1400" dirty="0"/>
          </a:p>
        </p:txBody>
      </p:sp>
      <p:sp>
        <p:nvSpPr>
          <p:cNvPr id="8" name="card Inconsistent"/>
          <p:cNvSpPr/>
          <p:nvPr/>
        </p:nvSpPr>
        <p:spPr>
          <a:xfrm>
            <a:off x="4334256" y="5074920"/>
            <a:ext cx="352044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dot Inconsistent"/>
          <p:cNvSpPr/>
          <p:nvPr/>
        </p:nvSpPr>
        <p:spPr>
          <a:xfrm>
            <a:off x="4535424" y="5294376"/>
            <a:ext cx="201168" cy="20116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837176" y="516636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Inconsistent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4535424" y="5641848"/>
            <a:ext cx="31181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Raters often disagree by one point or more per item.</a:t>
            </a:r>
            <a:endParaRPr lang="en-US" sz="1400" dirty="0"/>
          </a:p>
        </p:txBody>
      </p:sp>
      <p:sp>
        <p:nvSpPr>
          <p:cNvPr id="12" name="card Automatable?"/>
          <p:cNvSpPr/>
          <p:nvPr/>
        </p:nvSpPr>
        <p:spPr>
          <a:xfrm>
            <a:off x="8119872" y="5074920"/>
            <a:ext cx="352044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dot Automatable?"/>
          <p:cNvSpPr/>
          <p:nvPr/>
        </p:nvSpPr>
        <p:spPr>
          <a:xfrm>
            <a:off x="8321040" y="5294376"/>
            <a:ext cx="201168" cy="20116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622792" y="516636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Automatable?</a:t>
            </a:r>
            <a:endParaRPr lang="en-US" sz="1700" dirty="0"/>
          </a:p>
        </p:txBody>
      </p:sp>
      <p:sp>
        <p:nvSpPr>
          <p:cNvPr id="15" name="Text 12"/>
          <p:cNvSpPr txBox="1"/>
          <p:nvPr/>
        </p:nvSpPr>
        <p:spPr>
          <a:xfrm>
            <a:off x="8321040" y="5641848"/>
            <a:ext cx="31181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Can a video model give the same report in seconds?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The data: top-view suturing videos, rated three times</a:t>
            </a:r>
            <a:endParaRPr lang="en-US" sz="3000" dirty="0"/>
          </a:p>
        </p:txBody>
      </p:sp>
      <p:pic>
        <p:nvPicPr>
          <p:cNvPr id="3" name="data" descr="/tmp/claude-0/-home-claude/5c2f54b0-55e1-5fb3-9d31-8a6b3ae7052c/scratchpad/deck_oss/img/dat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1188720"/>
            <a:ext cx="10936224" cy="23774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31520" y="397764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48006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independent raters per video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3383280" y="397764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4400" dirty="0"/>
          </a:p>
        </p:txBody>
      </p:sp>
      <p:sp>
        <p:nvSpPr>
          <p:cNvPr id="7" name="Text 4"/>
          <p:cNvSpPr txBox="1"/>
          <p:nvPr/>
        </p:nvSpPr>
        <p:spPr>
          <a:xfrm>
            <a:off x="3383280" y="48006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OSATS items, each scored 1 to 5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035040" y="397764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8–40</a:t>
            </a:r>
            <a:endParaRPr lang="en-US" sz="4400" dirty="0"/>
          </a:p>
        </p:txBody>
      </p:sp>
      <p:sp>
        <p:nvSpPr>
          <p:cNvPr id="9" name="Text 6"/>
          <p:cNvSpPr txBox="1"/>
          <p:nvPr/>
        </p:nvSpPr>
        <p:spPr>
          <a:xfrm>
            <a:off x="6035040" y="48006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Global Rating Score = sum of the items</a:t>
            </a:r>
            <a:endParaRPr lang="en-US" sz="1400" dirty="0"/>
          </a:p>
        </p:txBody>
      </p:sp>
      <p:sp>
        <p:nvSpPr>
          <p:cNvPr id="10" name="sheet"/>
          <p:cNvSpPr/>
          <p:nvPr/>
        </p:nvSpPr>
        <p:spPr>
          <a:xfrm>
            <a:off x="8778240" y="3840480"/>
            <a:ext cx="2834640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 w="19050">
            <a:solidFill>
              <a:schemeClr val="accent5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961120" y="3931920"/>
            <a:ext cx="25603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annotation sheet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rater A  3 2 3 2 3 3 2 3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rater B  2 2 3 2 2 3 2 2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rater C  3 3 3 2 3 3 3 3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i="1" dirty="0">
                <a:solidFill>
                  <a:schemeClr val="accent6"/>
                </a:solidFill>
              </a:rPr>
              <a:t>same student, pre and post training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2377440"/>
            <a:ext cx="7772400" cy="11887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Three tasks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365760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5"/>
                </a:solidFill>
              </a:rPr>
              <a:t>one overall class · eight item scores · the motion of hands and tools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Task 1 – put each video in one of four skill classes</a:t>
            </a:r>
            <a:endParaRPr lang="en-US" sz="3000" dirty="0"/>
          </a:p>
        </p:txBody>
      </p:sp>
      <p:pic>
        <p:nvPicPr>
          <p:cNvPr id="3" name="grs_scale" descr="/tmp/claude-0/-home-claude/5c2f54b0-55e1-5fb3-9d31-8a6b3ae7052c/scratchpad/deck_oss/img/grs_sca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04809"/>
            <a:ext cx="11064240" cy="2693902"/>
          </a:xfrm>
          <a:prstGeom prst="rect">
            <a:avLst/>
          </a:prstGeom>
        </p:spPr>
      </p:pic>
      <p:sp>
        <p:nvSpPr>
          <p:cNvPr id="4" name="card Input"/>
          <p:cNvSpPr/>
          <p:nvPr/>
        </p:nvSpPr>
        <p:spPr>
          <a:xfrm>
            <a:off x="548640" y="4343400"/>
            <a:ext cx="3520440" cy="19202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dot Input"/>
          <p:cNvSpPr/>
          <p:nvPr/>
        </p:nvSpPr>
        <p:spPr>
          <a:xfrm>
            <a:off x="749808" y="4562856"/>
            <a:ext cx="201168" cy="20116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051560" y="443484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Input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749808" y="4910328"/>
            <a:ext cx="311810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Whole video, about five minutes, sampled into short clips of 16 frames.</a:t>
            </a:r>
            <a:endParaRPr lang="en-US" sz="1400" dirty="0"/>
          </a:p>
        </p:txBody>
      </p:sp>
      <p:sp>
        <p:nvSpPr>
          <p:cNvPr id="8" name="card Target"/>
          <p:cNvSpPr/>
          <p:nvPr/>
        </p:nvSpPr>
        <p:spPr>
          <a:xfrm>
            <a:off x="4334256" y="4343400"/>
            <a:ext cx="3520440" cy="19202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dot Target"/>
          <p:cNvSpPr/>
          <p:nvPr/>
        </p:nvSpPr>
        <p:spPr>
          <a:xfrm>
            <a:off x="4535424" y="4562856"/>
            <a:ext cx="201168" cy="20116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837176" y="443484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Target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4535424" y="4910328"/>
            <a:ext cx="311810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Mean GRS of the three raters, mapped to an ordinal class 0–3.</a:t>
            </a:r>
            <a:endParaRPr lang="en-US" sz="1400" dirty="0"/>
          </a:p>
        </p:txBody>
      </p:sp>
      <p:sp>
        <p:nvSpPr>
          <p:cNvPr id="12" name="card Why it is hard"/>
          <p:cNvSpPr/>
          <p:nvPr/>
        </p:nvSpPr>
        <p:spPr>
          <a:xfrm>
            <a:off x="8119872" y="4343400"/>
            <a:ext cx="3520440" cy="19202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dot Why it is hard"/>
          <p:cNvSpPr/>
          <p:nvPr/>
        </p:nvSpPr>
        <p:spPr>
          <a:xfrm>
            <a:off x="8321040" y="4562856"/>
            <a:ext cx="201168" cy="20116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622792" y="443484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Why it is hard</a:t>
            </a:r>
            <a:endParaRPr lang="en-US" sz="1700" dirty="0"/>
          </a:p>
        </p:txBody>
      </p:sp>
      <p:sp>
        <p:nvSpPr>
          <p:cNvPr id="15" name="Text 12"/>
          <p:cNvSpPr txBox="1"/>
          <p:nvPr/>
        </p:nvSpPr>
        <p:spPr>
          <a:xfrm>
            <a:off x="8321040" y="4910328"/>
            <a:ext cx="311810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Classes are ordered: calling an expert a beginner is worse than calling them proficient.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Task 2 – score each of the eight OSATS items</a:t>
            </a:r>
            <a:endParaRPr lang="en-US" sz="3000" dirty="0"/>
          </a:p>
        </p:txBody>
      </p:sp>
      <p:pic>
        <p:nvPicPr>
          <p:cNvPr id="3" name="osats_radar" descr="/tmp/claude-0/-home-claude/5c2f54b0-55e1-5fb3-9d31-8a6b3ae7052c/scratchpad/deck_oss/img/osats_rad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4273" y="1188720"/>
            <a:ext cx="5360815" cy="53949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217920" y="1554480"/>
            <a:ext cx="539496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Every item is scored from 1 (poor) to 5 (excellent).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Ground truth per item: the rounded mean of the three raters.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One video gives a profile, not a single number – training shows up as a larger shape.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In the repository: regression, classification, CORAL or a hybrid head over a shared video encoder, with an optional GRS consistency term.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Task 3 – track the hands, tools and needle frame by frame</a:t>
            </a:r>
            <a:endParaRPr lang="en-US" sz="3000" dirty="0"/>
          </a:p>
        </p:txBody>
      </p:sp>
      <p:pic>
        <p:nvPicPr>
          <p:cNvPr id="3" name="keypoints" descr="/tmp/claude-0/-home-claude/5c2f54b0-55e1-5fb3-9d31-8a6b3ae7052c/scratchpad/deck_oss/img/keypoin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63651"/>
            <a:ext cx="5760720" cy="3873498"/>
          </a:xfrm>
          <a:prstGeom prst="rect">
            <a:avLst/>
          </a:prstGeom>
        </p:spPr>
      </p:pic>
      <p:pic>
        <p:nvPicPr>
          <p:cNvPr id="4" name="tracks" descr="/tmp/claude-0/-home-claude/5c2f54b0-55e1-5fb3-9d31-8a6b3ae7052c/scratchpad/deck_oss/img/track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5660" y="1234440"/>
            <a:ext cx="4973800" cy="3931920"/>
          </a:xfrm>
          <a:prstGeom prst="rect">
            <a:avLst/>
          </a:prstGeom>
        </p:spPr>
      </p:pic>
      <p:sp>
        <p:nvSpPr>
          <p:cNvPr id="5" name="legend 0"/>
          <p:cNvSpPr/>
          <p:nvPr/>
        </p:nvSpPr>
        <p:spPr>
          <a:xfrm>
            <a:off x="731520" y="5440680"/>
            <a:ext cx="182880" cy="1828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1005840" y="53492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hands: 6 keypoints each</a:t>
            </a:r>
            <a:endParaRPr lang="en-US" sz="1400" dirty="0"/>
          </a:p>
        </p:txBody>
      </p:sp>
      <p:sp>
        <p:nvSpPr>
          <p:cNvPr id="7" name="legend 1"/>
          <p:cNvSpPr/>
          <p:nvPr/>
        </p:nvSpPr>
        <p:spPr>
          <a:xfrm>
            <a:off x="731520" y="5806440"/>
            <a:ext cx="182880" cy="1828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1005840" y="57150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scissors · tweezers · needle holder: 3 each</a:t>
            </a:r>
            <a:endParaRPr lang="en-US" sz="1400" dirty="0"/>
          </a:p>
        </p:txBody>
      </p:sp>
      <p:sp>
        <p:nvSpPr>
          <p:cNvPr id="9" name="legend 2"/>
          <p:cNvSpPr/>
          <p:nvPr/>
        </p:nvSpPr>
        <p:spPr>
          <a:xfrm>
            <a:off x="731520" y="6172200"/>
            <a:ext cx="182880" cy="18288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1005840" y="60807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needle: 3 keypoints, up to two needles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6400800" y="5349240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visibility per keypoint: 0 out of frame · 1 hidden · 2 visible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result written as MOT files, one line per object and frame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How results are scored</a:t>
            </a:r>
            <a:endParaRPr lang="en-US" sz="3000" dirty="0"/>
          </a:p>
        </p:txBody>
      </p:sp>
      <p:pic>
        <p:nvPicPr>
          <p:cNvPr id="3" name="cost_matrix" descr="/tmp/claude-0/-home-claude/5c2f54b0-55e1-5fb3-9d31-8a6b3ae7052c/scratchpad/deck_oss/img/cost_matri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18146"/>
            <a:ext cx="4206240" cy="403882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55321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chemeClr val="accent6"/>
                </a:solidFill>
              </a:rPr>
              <a:t>expected-cost weights |true − predicted| / 3</a:t>
            </a:r>
            <a:endParaRPr lang="en-US" sz="1300" dirty="0"/>
          </a:p>
        </p:txBody>
      </p:sp>
      <p:sp>
        <p:nvSpPr>
          <p:cNvPr id="5" name="card Macro F1 (Tasks 1 and 2)"/>
          <p:cNvSpPr/>
          <p:nvPr/>
        </p:nvSpPr>
        <p:spPr>
          <a:xfrm>
            <a:off x="5212080" y="1325880"/>
            <a:ext cx="640080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dot Macro F1 (Tasks 1 and 2)"/>
          <p:cNvSpPr/>
          <p:nvPr/>
        </p:nvSpPr>
        <p:spPr>
          <a:xfrm>
            <a:off x="5413248" y="1545336"/>
            <a:ext cx="201168" cy="20116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715000" y="141732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Macro F1 (Tasks 1 and 2)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5413248" y="1892808"/>
            <a:ext cx="59984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Average of the per-class F1 scores, so rare classes count as much as common ones. Higher is better.</a:t>
            </a:r>
            <a:endParaRPr lang="en-US" sz="1400" dirty="0"/>
          </a:p>
        </p:txBody>
      </p:sp>
      <p:sp>
        <p:nvSpPr>
          <p:cNvPr id="9" name="card Expected cost (Tasks 1 and 2)"/>
          <p:cNvSpPr/>
          <p:nvPr/>
        </p:nvSpPr>
        <p:spPr>
          <a:xfrm>
            <a:off x="5212080" y="2971800"/>
            <a:ext cx="640080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dot Expected cost (Tasks 1 and 2)"/>
          <p:cNvSpPr/>
          <p:nvPr/>
        </p:nvSpPr>
        <p:spPr>
          <a:xfrm>
            <a:off x="5413248" y="3191256"/>
            <a:ext cx="201168" cy="20116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715000" y="306324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Expected cost (Tasks 1 and 2)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5413248" y="3538728"/>
            <a:ext cx="59984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Mean of the cost matrix weights over all predictions – far-off classes cost more. Lower is better.</a:t>
            </a:r>
            <a:endParaRPr lang="en-US" sz="1400" dirty="0"/>
          </a:p>
        </p:txBody>
      </p:sp>
      <p:sp>
        <p:nvSpPr>
          <p:cNvPr id="13" name="card HOTA (Task 3)"/>
          <p:cNvSpPr/>
          <p:nvPr/>
        </p:nvSpPr>
        <p:spPr>
          <a:xfrm>
            <a:off x="5212080" y="4617720"/>
            <a:ext cx="640080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dot HOTA (Task 3)"/>
          <p:cNvSpPr/>
          <p:nvPr/>
        </p:nvSpPr>
        <p:spPr>
          <a:xfrm>
            <a:off x="5413248" y="4837176"/>
            <a:ext cx="201168" cy="20116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715000" y="470916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HOTA (Task 3)</a:t>
            </a:r>
            <a:endParaRPr lang="en-US" sz="1700" dirty="0"/>
          </a:p>
        </p:txBody>
      </p:sp>
      <p:sp>
        <p:nvSpPr>
          <p:cNvPr id="16" name="Text 13"/>
          <p:cNvSpPr txBox="1"/>
          <p:nvPr/>
        </p:nvSpPr>
        <p:spPr>
          <a:xfrm>
            <a:off x="5413248" y="5184648"/>
            <a:ext cx="59984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Balances finding the keypoints (detection) and keeping the right identity over time (association).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2377440"/>
            <a:ext cx="7772400" cy="11887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The repository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365760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5"/>
                </a:solidFill>
              </a:rPr>
              <a:t>one training script per task, shared building blocks, inference and Docker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From video to scores in five blocks</a:t>
            </a:r>
            <a:endParaRPr lang="en-US" sz="3000" dirty="0"/>
          </a:p>
        </p:txBody>
      </p:sp>
      <p:pic>
        <p:nvPicPr>
          <p:cNvPr id="3" name="pipeline" descr="/tmp/claude-0/-home-claude/5c2f54b0-55e1-5fb3-9d31-8a6b3ae7052c/scratchpad/deck_oss/img/pipe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33419"/>
            <a:ext cx="11064240" cy="2836683"/>
          </a:xfrm>
          <a:prstGeom prst="rect">
            <a:avLst/>
          </a:prstGeom>
        </p:spPr>
      </p:pic>
      <p:sp>
        <p:nvSpPr>
          <p:cNvPr id="4" name="card Training scripts"/>
          <p:cNvSpPr/>
          <p:nvPr/>
        </p:nvSpPr>
        <p:spPr>
          <a:xfrm>
            <a:off x="548640" y="4343400"/>
            <a:ext cx="3520440" cy="19202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dot Training scripts"/>
          <p:cNvSpPr/>
          <p:nvPr/>
        </p:nvSpPr>
        <p:spPr>
          <a:xfrm>
            <a:off x="749808" y="4562856"/>
            <a:ext cx="201168" cy="20116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051560" y="443484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Training scripts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749808" y="4910328"/>
            <a:ext cx="311810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task1_grs_classification.py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task2_osats_prediction.py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task3_keypoint_tracking.py</a:t>
            </a:r>
            <a:endParaRPr lang="en-US" sz="1300" dirty="0"/>
          </a:p>
        </p:txBody>
      </p:sp>
      <p:sp>
        <p:nvSpPr>
          <p:cNvPr id="8" name="card Every epoch saved"/>
          <p:cNvSpPr/>
          <p:nvPr/>
        </p:nvSpPr>
        <p:spPr>
          <a:xfrm>
            <a:off x="4334256" y="4343400"/>
            <a:ext cx="3520440" cy="19202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dot Every epoch saved"/>
          <p:cNvSpPr/>
          <p:nvPr/>
        </p:nvSpPr>
        <p:spPr>
          <a:xfrm>
            <a:off x="4535424" y="4562856"/>
            <a:ext cx="201168" cy="20116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837176" y="443484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Every epoch saved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4535424" y="4910328"/>
            <a:ext cx="311810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Model, submission file and a training report land in one run folder.</a:t>
            </a:r>
            <a:endParaRPr lang="en-US" sz="1400" dirty="0"/>
          </a:p>
        </p:txBody>
      </p:sp>
      <p:sp>
        <p:nvSpPr>
          <p:cNvPr id="12" name="card Inference"/>
          <p:cNvSpPr/>
          <p:nvPr/>
        </p:nvSpPr>
        <p:spPr>
          <a:xfrm>
            <a:off x="8119872" y="4343400"/>
            <a:ext cx="3520440" cy="19202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dot Inference"/>
          <p:cNvSpPr/>
          <p:nvPr/>
        </p:nvSpPr>
        <p:spPr>
          <a:xfrm>
            <a:off x="8321040" y="4562856"/>
            <a:ext cx="201168" cy="20116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622792" y="443484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Inference</a:t>
            </a:r>
            <a:endParaRPr lang="en-US" sz="1700" dirty="0"/>
          </a:p>
        </p:txBody>
      </p:sp>
      <p:sp>
        <p:nvSpPr>
          <p:cNvPr id="15" name="Text 12"/>
          <p:cNvSpPr txBox="1"/>
          <p:nvPr/>
        </p:nvSpPr>
        <p:spPr>
          <a:xfrm>
            <a:off x="8321040" y="4910328"/>
            <a:ext cx="311810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Multi-clip and flip test-time augmentation, checkpoint ensembles, Hungarian tracking for Task 3.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Many good choices – too many to try by hand</a:t>
            </a:r>
            <a:endParaRPr lang="en-US" sz="3000" dirty="0"/>
          </a:p>
        </p:txBody>
      </p:sp>
      <p:pic>
        <p:nvPicPr>
          <p:cNvPr id="3" name="options" descr="/tmp/claude-0/-home-claude/5c2f54b0-55e1-5fb3-9d31-8a6b3ae7052c/scratchpad/deck_oss/img/optio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70768"/>
            <a:ext cx="6035040" cy="415654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132320" y="155448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&gt; 100 000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7132320" y="237744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combinations of backbone, temporal head, loss, optimiser and schedule – before learning rate and batch size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7132320" y="3429000"/>
            <a:ext cx="44805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One full training run takes hours on a single GPU.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Results change with the random seed, so one run per option is not enough.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We need a way to rank options after a few epochs, not after a full run.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Early training curves are a noisy guide</a:t>
            </a:r>
            <a:endParaRPr lang="en-US" sz="3000" dirty="0"/>
          </a:p>
        </p:txBody>
      </p:sp>
      <p:pic>
        <p:nvPicPr>
          <p:cNvPr id="3" name="noisy_reward" descr="/tmp/claude-0/-home-claude/5c2f54b0-55e1-5fb3-9d31-8a6b3ae7052c/scratchpad/deck_oss/img/noisy_rew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95165"/>
            <a:ext cx="6583680" cy="4416309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406640" y="1554480"/>
            <a:ext cx="420624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Thin lines: six seeds of the same configuration. Thick lines: their mean.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In the first epochs (yellow band) A and B overlap – the raw score cannot tell them apart.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Yet the shape of the early curve – loss level, its spread over batches, its slope – still carries information about the final result.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GRM learns that relation once, and then uses it as the reward of the search.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2377440"/>
            <a:ext cx="7772400" cy="11887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The GRM search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365760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5"/>
                </a:solidFill>
              </a:rPr>
              <a:t>learn what a good start looks like, then search with that as the reward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The GRM loop</a:t>
            </a:r>
            <a:endParaRPr lang="en-US" sz="3000" dirty="0"/>
          </a:p>
        </p:txBody>
      </p:sp>
      <p:pic>
        <p:nvPicPr>
          <p:cNvPr id="3" name="grm_loop" descr="/tmp/claude-0/-home-claude/5c2f54b0-55e1-5fb3-9d31-8a6b3ae7052c/scratchpad/deck_oss/img/grm_lo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9758"/>
            <a:ext cx="7589520" cy="3744163"/>
          </a:xfrm>
          <a:prstGeom prst="rect">
            <a:avLst/>
          </a:prstGeom>
        </p:spPr>
      </p:pic>
      <p:sp>
        <p:nvSpPr>
          <p:cNvPr id="4" name="card State"/>
          <p:cNvSpPr/>
          <p:nvPr/>
        </p:nvSpPr>
        <p:spPr>
          <a:xfrm>
            <a:off x="8412480" y="1280160"/>
            <a:ext cx="320040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dot State"/>
          <p:cNvSpPr/>
          <p:nvPr/>
        </p:nvSpPr>
        <p:spPr>
          <a:xfrm>
            <a:off x="8613648" y="1499616"/>
            <a:ext cx="201168" cy="20116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915400" y="13716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State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8613648" y="1847088"/>
            <a:ext cx="27980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The batch-size class of the configuration (mapping function).</a:t>
            </a:r>
            <a:endParaRPr lang="en-US" sz="1300" dirty="0"/>
          </a:p>
        </p:txBody>
      </p:sp>
      <p:sp>
        <p:nvSpPr>
          <p:cNvPr id="8" name="card Action"/>
          <p:cNvSpPr/>
          <p:nvPr/>
        </p:nvSpPr>
        <p:spPr>
          <a:xfrm>
            <a:off x="8412480" y="2926080"/>
            <a:ext cx="320040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dot Action"/>
          <p:cNvSpPr/>
          <p:nvPr/>
        </p:nvSpPr>
        <p:spPr>
          <a:xfrm>
            <a:off x="8613648" y="3145536"/>
            <a:ext cx="201168" cy="20116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915400" y="30175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Action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613648" y="3493008"/>
            <a:ext cx="27980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Backbone, loss, optimiser, schedule, learning rate …</a:t>
            </a:r>
            <a:endParaRPr lang="en-US" sz="1300" dirty="0"/>
          </a:p>
        </p:txBody>
      </p:sp>
      <p:sp>
        <p:nvSpPr>
          <p:cNvPr id="12" name="card Reward"/>
          <p:cNvSpPr/>
          <p:nvPr/>
        </p:nvSpPr>
        <p:spPr>
          <a:xfrm>
            <a:off x="8412480" y="4572000"/>
            <a:ext cx="320040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dot Reward"/>
          <p:cNvSpPr/>
          <p:nvPr/>
        </p:nvSpPr>
        <p:spPr>
          <a:xfrm>
            <a:off x="8613648" y="4791456"/>
            <a:ext cx="201168" cy="20116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915400" y="46634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Reward</a:t>
            </a:r>
            <a:endParaRPr lang="en-US" sz="1700" dirty="0"/>
          </a:p>
        </p:txBody>
      </p:sp>
      <p:sp>
        <p:nvSpPr>
          <p:cNvPr id="15" name="Text 12"/>
          <p:cNvSpPr txBox="1"/>
          <p:nvPr/>
        </p:nvSpPr>
        <p:spPr>
          <a:xfrm>
            <a:off x="8613648" y="5138928"/>
            <a:ext cx="27980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Estimated final performance, shaped by the reward machine.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566928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chemeClr val="accent6"/>
                </a:solidFill>
              </a:rPr>
              <a:t>the agent never waits for a full training run inside the loop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Phase 1 – calibrate one estimator per state</a:t>
            </a:r>
            <a:endParaRPr lang="en-US" sz="3000" dirty="0"/>
          </a:p>
        </p:txBody>
      </p:sp>
      <p:pic>
        <p:nvPicPr>
          <p:cNvPr id="3" name="calibration" descr="/tmp/claude-0/-home-claude/5c2f54b0-55e1-5fb3-9d31-8a6b3ae7052c/scratchpad/deck_oss/img/calibr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49937"/>
            <a:ext cx="11064240" cy="3398006"/>
          </a:xfrm>
          <a:prstGeom prst="rect">
            <a:avLst/>
          </a:prstGeom>
        </p:spPr>
      </p:pic>
      <p:sp>
        <p:nvSpPr>
          <p:cNvPr id="4" name="card Probes"/>
          <p:cNvSpPr/>
          <p:nvPr/>
        </p:nvSpPr>
        <p:spPr>
          <a:xfrm>
            <a:off x="548640" y="4846320"/>
            <a:ext cx="352044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dot Probes"/>
          <p:cNvSpPr/>
          <p:nvPr/>
        </p:nvSpPr>
        <p:spPr>
          <a:xfrm>
            <a:off x="749808" y="5065776"/>
            <a:ext cx="201168" cy="20116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051560" y="493776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Probes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749808" y="5413248"/>
            <a:ext cx="31181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Random actions per batch-size class, each trained for a few epochs and then in full.</a:t>
            </a:r>
            <a:endParaRPr lang="en-US" sz="1300" dirty="0"/>
          </a:p>
        </p:txBody>
      </p:sp>
      <p:sp>
        <p:nvSpPr>
          <p:cNvPr id="8" name="card Signals"/>
          <p:cNvSpPr/>
          <p:nvPr/>
        </p:nvSpPr>
        <p:spPr>
          <a:xfrm>
            <a:off x="4334256" y="4846320"/>
            <a:ext cx="352044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dot Signals"/>
          <p:cNvSpPr/>
          <p:nvPr/>
        </p:nvSpPr>
        <p:spPr>
          <a:xfrm>
            <a:off x="4535424" y="5065776"/>
            <a:ext cx="201168" cy="20116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837176" y="493776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Signals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4535424" y="5413248"/>
            <a:ext cx="31181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OSS, StepUP or OGB sets: mean loss, batch-loss spread, early F1, RMSE, slope …</a:t>
            </a:r>
            <a:endParaRPr lang="en-US" sz="1300" dirty="0"/>
          </a:p>
        </p:txBody>
      </p:sp>
      <p:sp>
        <p:nvSpPr>
          <p:cNvPr id="12" name="card Estimator"/>
          <p:cNvSpPr/>
          <p:nvPr/>
        </p:nvSpPr>
        <p:spPr>
          <a:xfrm>
            <a:off x="8119872" y="4846320"/>
            <a:ext cx="352044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dot Estimator"/>
          <p:cNvSpPr/>
          <p:nvPr/>
        </p:nvSpPr>
        <p:spPr>
          <a:xfrm>
            <a:off x="8321040" y="5065776"/>
            <a:ext cx="201168" cy="20116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622792" y="493776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Estimator</a:t>
            </a:r>
            <a:endParaRPr lang="en-US" sz="1700" dirty="0"/>
          </a:p>
        </p:txBody>
      </p:sp>
      <p:sp>
        <p:nvSpPr>
          <p:cNvPr id="15" name="Text 12"/>
          <p:cNvSpPr txBox="1"/>
          <p:nvPr/>
        </p:nvSpPr>
        <p:spPr>
          <a:xfrm>
            <a:off x="8321040" y="5413248"/>
            <a:ext cx="31181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Linear, ridge, Huber or k-NN, checked by leave-one-out error.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The reward machine decides how to read each probe</a:t>
            </a:r>
            <a:endParaRPr lang="en-US" sz="3000" dirty="0"/>
          </a:p>
        </p:txBody>
      </p:sp>
      <p:pic>
        <p:nvPicPr>
          <p:cNvPr id="3" name="reward_machine" descr="/tmp/claude-0/-home-claude/5c2f54b0-55e1-5fb3-9d31-8a6b3ae7052c/scratchpad/deck_oss/img/reward_mach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2220"/>
            <a:ext cx="6400800" cy="3302039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223760" y="1463040"/>
            <a:ext cx="438912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 labelling function turns each probe into a symbol: improved, plateau, diverged or invalid.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The symbol moves a small finite-state machine between explore and exploit.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Each state has its own exploration rate and reward rule – novelty bonus while exploring, plain estimate while exploiting.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Configurations that crash or run out of memory are masked out of the search.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Phase 2 – Q-learning over (state, action) pairs</a:t>
            </a:r>
            <a:endParaRPr lang="en-US" sz="3000" dirty="0"/>
          </a:p>
        </p:txBody>
      </p:sp>
      <p:pic>
        <p:nvPicPr>
          <p:cNvPr id="3" name="qtable" descr="/tmp/claude-0/-home-claude/5c2f54b0-55e1-5fb3-9d31-8a6b3ae7052c/scratchpad/deck_oss/img/qtab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86876"/>
            <a:ext cx="6766560" cy="362704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525780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chemeClr val="accent6"/>
                </a:solidFill>
              </a:rPr>
              <a:t>best pair so far highlighted · invalid pairs never chosen again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7589520" y="1463040"/>
            <a:ext cx="40233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Pick a state, then an action with ε-greedy, UCB or softmax.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Train the pair for a few epochs only.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Reward = estimator output; update Q with the learning rule.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Stop after the step budget; take the top pairs forward to a full run.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Each phase runs on its own, whenever there is GPU time</a:t>
            </a:r>
            <a:endParaRPr lang="en-US" sz="3000" dirty="0"/>
          </a:p>
        </p:txBody>
      </p:sp>
      <p:pic>
        <p:nvPicPr>
          <p:cNvPr id="3" name="phases" descr="/tmp/claude-0/-home-claude/5c2f54b0-55e1-5fb3-9d31-8a6b3ae7052c/scratchpad/deck_oss/img/phas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36799"/>
            <a:ext cx="11064240" cy="3195682"/>
          </a:xfrm>
          <a:prstGeom prst="rect">
            <a:avLst/>
          </a:prstGeom>
        </p:spPr>
      </p:pic>
      <p:sp>
        <p:nvSpPr>
          <p:cNvPr id="4" name="command box"/>
          <p:cNvSpPr/>
          <p:nvPr/>
        </p:nvSpPr>
        <p:spPr>
          <a:xfrm>
            <a:off x="548640" y="4663440"/>
            <a:ext cx="11064240" cy="1600200"/>
          </a:xfrm>
          <a:prstGeom prst="roundRect">
            <a:avLst>
              <a:gd name="adj" fmla="val 685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77240" y="4754880"/>
            <a:ext cx="106070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oss_suturing/task1_grs_classification.py --mode grm_calibrate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oss_suturing/task1_grs_classification.py --mode grm_search      # repeat to add steps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oss_suturing/task1_grs_classification.py --mode grm_final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Results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234440"/>
          <a:ext cx="585216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85216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chemeClr val="accent6"/>
                </a:solidFill>
              </a:rPr>
              <a:t>best of the submitted Task 1 models · Task 2: F1 0.19, EC 0.33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6858000" y="13258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Same idea on earlier problems</a:t>
            </a:r>
            <a:endParaRPr lang="en-US" sz="1800" dirty="0"/>
          </a:p>
        </p:txBody>
      </p:sp>
      <p:sp>
        <p:nvSpPr>
          <p:cNvPr id="6" name="card StepUP – EER (lower is better)"/>
          <p:cNvSpPr/>
          <p:nvPr/>
        </p:nvSpPr>
        <p:spPr>
          <a:xfrm>
            <a:off x="6858000" y="1920240"/>
            <a:ext cx="4754880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dot StepUP – EER (lower is better)"/>
          <p:cNvSpPr/>
          <p:nvPr/>
        </p:nvSpPr>
        <p:spPr>
          <a:xfrm>
            <a:off x="7059168" y="2139696"/>
            <a:ext cx="201168" cy="20116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360920" y="20116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StepUP – EER (lower is better)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7059168" y="2487168"/>
            <a:ext cx="43525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7086600" y="251460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10.77</a:t>
            </a:r>
            <a:endParaRPr lang="en-US" sz="4400" dirty="0"/>
          </a:p>
        </p:txBody>
      </p:sp>
      <p:sp>
        <p:nvSpPr>
          <p:cNvPr id="11" name="Text 8"/>
          <p:cNvSpPr txBox="1"/>
          <p:nvPr/>
        </p:nvSpPr>
        <p:spPr>
          <a:xfrm>
            <a:off x="7086600" y="33375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GRM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9281160" y="251460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13.13</a:t>
            </a:r>
            <a:endParaRPr lang="en-US" sz="4400" dirty="0"/>
          </a:p>
        </p:txBody>
      </p:sp>
      <p:sp>
        <p:nvSpPr>
          <p:cNvPr id="13" name="Text 10"/>
          <p:cNvSpPr txBox="1"/>
          <p:nvPr/>
        </p:nvSpPr>
        <p:spPr>
          <a:xfrm>
            <a:off x="9281160" y="33375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RL, raw reward</a:t>
            </a:r>
            <a:endParaRPr lang="en-US" sz="1400" dirty="0"/>
          </a:p>
        </p:txBody>
      </p:sp>
      <p:sp>
        <p:nvSpPr>
          <p:cNvPr id="14" name="card ECML OGB – weighted total (higher)"/>
          <p:cNvSpPr/>
          <p:nvPr/>
        </p:nvSpPr>
        <p:spPr>
          <a:xfrm>
            <a:off x="6858000" y="3977640"/>
            <a:ext cx="4754880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dot ECML OGB – weighted total (higher)"/>
          <p:cNvSpPr/>
          <p:nvPr/>
        </p:nvSpPr>
        <p:spPr>
          <a:xfrm>
            <a:off x="7059168" y="4197096"/>
            <a:ext cx="201168" cy="20116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360920" y="40690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ECML OGB – weighted total (higher)</a:t>
            </a:r>
            <a:endParaRPr lang="en-US" sz="1700" dirty="0"/>
          </a:p>
        </p:txBody>
      </p:sp>
      <p:sp>
        <p:nvSpPr>
          <p:cNvPr id="17" name="Text 14"/>
          <p:cNvSpPr txBox="1"/>
          <p:nvPr/>
        </p:nvSpPr>
        <p:spPr>
          <a:xfrm>
            <a:off x="7059168" y="4544568"/>
            <a:ext cx="43525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7086600" y="457200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3.68</a:t>
            </a:r>
            <a:endParaRPr lang="en-US" sz="4400" dirty="0"/>
          </a:p>
        </p:txBody>
      </p:sp>
      <p:sp>
        <p:nvSpPr>
          <p:cNvPr id="19" name="Text 16"/>
          <p:cNvSpPr txBox="1"/>
          <p:nvPr/>
        </p:nvSpPr>
        <p:spPr>
          <a:xfrm>
            <a:off x="7086600" y="53949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GRM · first place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9281160" y="457200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3.45</a:t>
            </a:r>
            <a:endParaRPr lang="en-US" sz="4400" dirty="0"/>
          </a:p>
        </p:txBody>
      </p:sp>
      <p:sp>
        <p:nvSpPr>
          <p:cNvPr id="21" name="Text 18"/>
          <p:cNvSpPr txBox="1"/>
          <p:nvPr/>
        </p:nvSpPr>
        <p:spPr>
          <a:xfrm>
            <a:off x="9281160" y="53949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RL, raw reward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Using the repository</a:t>
            </a:r>
            <a:endParaRPr lang="en-US" sz="3000" dirty="0"/>
          </a:p>
        </p:txBody>
      </p:sp>
      <p:sp>
        <p:nvSpPr>
          <p:cNvPr id="3" name="step 1"/>
          <p:cNvSpPr/>
          <p:nvPr/>
        </p:nvSpPr>
        <p:spPr>
          <a:xfrm>
            <a:off x="640080" y="132588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3258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1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600200" y="128016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Install</a:t>
            </a:r>
            <a:endParaRPr lang="en-US" sz="1900" dirty="0"/>
          </a:p>
        </p:txBody>
      </p:sp>
      <p:sp>
        <p:nvSpPr>
          <p:cNvPr id="6" name="code 1"/>
          <p:cNvSpPr/>
          <p:nvPr/>
        </p:nvSpPr>
        <p:spPr>
          <a:xfrm>
            <a:off x="4937760" y="1234440"/>
            <a:ext cx="667512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120640" y="1234440"/>
            <a:ext cx="6400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-r requirements-cu118.txt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-e .</a:t>
            </a:r>
            <a:endParaRPr lang="en-US" sz="1300" dirty="0"/>
          </a:p>
        </p:txBody>
      </p:sp>
      <p:sp>
        <p:nvSpPr>
          <p:cNvPr id="8" name="step 2"/>
          <p:cNvSpPr/>
          <p:nvPr/>
        </p:nvSpPr>
        <p:spPr>
          <a:xfrm>
            <a:off x="640080" y="256032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2560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2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1600200" y="251460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Train or search</a:t>
            </a:r>
            <a:endParaRPr lang="en-US" sz="1900" dirty="0"/>
          </a:p>
        </p:txBody>
      </p:sp>
      <p:sp>
        <p:nvSpPr>
          <p:cNvPr id="11" name="code 2"/>
          <p:cNvSpPr/>
          <p:nvPr/>
        </p:nvSpPr>
        <p:spPr>
          <a:xfrm>
            <a:off x="4937760" y="2468880"/>
            <a:ext cx="667512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120640" y="2468880"/>
            <a:ext cx="6400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 the CONFIG block, then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oss-task1 --mode train   (or grm_full)</a:t>
            </a:r>
            <a:endParaRPr lang="en-US" sz="1300" dirty="0"/>
          </a:p>
        </p:txBody>
      </p:sp>
      <p:sp>
        <p:nvSpPr>
          <p:cNvPr id="13" name="step 3"/>
          <p:cNvSpPr/>
          <p:nvPr/>
        </p:nvSpPr>
        <p:spPr>
          <a:xfrm>
            <a:off x="640080" y="379476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" y="37947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3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1600200" y="374904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Build the container</a:t>
            </a:r>
            <a:endParaRPr lang="en-US" sz="1900" dirty="0"/>
          </a:p>
        </p:txBody>
      </p:sp>
      <p:sp>
        <p:nvSpPr>
          <p:cNvPr id="16" name="code 3"/>
          <p:cNvSpPr/>
          <p:nvPr/>
        </p:nvSpPr>
        <p:spPr>
          <a:xfrm>
            <a:off x="4937760" y="3703320"/>
            <a:ext cx="667512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120640" y="3703320"/>
            <a:ext cx="6400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build -f docker/Dockerfile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-t oss-skill:cu118 .</a:t>
            </a:r>
            <a:endParaRPr lang="en-US" sz="1300" dirty="0"/>
          </a:p>
        </p:txBody>
      </p:sp>
      <p:sp>
        <p:nvSpPr>
          <p:cNvPr id="18" name="step 4"/>
          <p:cNvSpPr/>
          <p:nvPr/>
        </p:nvSpPr>
        <p:spPr>
          <a:xfrm>
            <a:off x="640080" y="502920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0080" y="5029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4</a:t>
            </a:r>
            <a:endParaRPr lang="en-US" sz="2400" dirty="0"/>
          </a:p>
        </p:txBody>
      </p:sp>
      <p:sp>
        <p:nvSpPr>
          <p:cNvPr id="20" name="Text 18"/>
          <p:cNvSpPr txBox="1"/>
          <p:nvPr/>
        </p:nvSpPr>
        <p:spPr>
          <a:xfrm>
            <a:off x="1600200" y="498348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Run like the organisers</a:t>
            </a:r>
            <a:endParaRPr lang="en-US" sz="1900" dirty="0"/>
          </a:p>
        </p:txBody>
      </p:sp>
      <p:sp>
        <p:nvSpPr>
          <p:cNvPr id="21" name="code 4"/>
          <p:cNvSpPr/>
          <p:nvPr/>
        </p:nvSpPr>
        <p:spPr>
          <a:xfrm>
            <a:off x="4937760" y="4937760"/>
            <a:ext cx="667512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120640" y="4937760"/>
            <a:ext cx="6400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Process_SkillEval.sh GRS | OSATS | TRACK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/input videos → /output results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828800"/>
            <a:ext cx="6035040" cy="18288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short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840480"/>
            <a:ext cx="60350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accent5"/>
                </a:solidFill>
              </a:rPr>
              <a:t>Three video tasks: skill class, OSATS items, keypoint tracks.</a:t>
            </a:r>
            <a:endParaRPr lang="en-US" sz="18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accent5"/>
                </a:solidFill>
              </a:rPr>
              <a:t>One configurable pipeline per task, ready for Docker submission.</a:t>
            </a:r>
            <a:endParaRPr lang="en-US" sz="18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accent5"/>
                </a:solidFill>
              </a:rPr>
              <a:t>GRM turns a few epochs into a reliable reward for the search.</a:t>
            </a:r>
            <a:endParaRPr lang="en-US" sz="1800" dirty="0"/>
          </a:p>
        </p:txBody>
      </p:sp>
      <p:sp>
        <p:nvSpPr>
          <p:cNvPr id="4" name="links"/>
          <p:cNvSpPr/>
          <p:nvPr/>
        </p:nvSpPr>
        <p:spPr>
          <a:xfrm>
            <a:off x="7223760" y="1828800"/>
            <a:ext cx="4389120" cy="3291840"/>
          </a:xfrm>
          <a:prstGeom prst="roundRect">
            <a:avLst>
              <a:gd name="adj" fmla="val 4167"/>
            </a:avLst>
          </a:prstGeom>
          <a:solidFill>
            <a:schemeClr val="tx1"/>
          </a:solidFill>
          <a:ln w="19050">
            <a:solidFill>
              <a:schemeClr val="accent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498080" y="2011680"/>
            <a:ext cx="39319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5"/>
                </a:solidFill>
              </a:rPr>
              <a:t>Challenge</a:t>
            </a:r>
            <a:endParaRPr lang="en-US" sz="1500" dirty="0"/>
          </a:p>
          <a:p>
            <a:pPr indent="0" marL="0">
              <a:buNone/>
            </a:pPr>
            <a:r>
              <a:rPr lang="en-US" sz="1500" u="sng" dirty="0">
                <a:solidFill>
                  <a:schemeClr val="bg1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opencas.dkfz.de/endovis/challenges/2025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accent5"/>
                </a:solidFill>
              </a:rPr>
              <a:t>Challenge paper</a:t>
            </a:r>
            <a:endParaRPr lang="en-US" sz="1500" dirty="0"/>
          </a:p>
          <a:p>
            <a:pPr indent="0" marL="0">
              <a:buNone/>
            </a:pPr>
            <a:r>
              <a:rPr lang="en-US" sz="1500" u="sng" dirty="0">
                <a:solidFill>
                  <a:schemeClr val="bg1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arxiv.org/abs/2605.22200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accent5"/>
                </a:solidFill>
              </a:rPr>
              <a:t>GRM framework (PhD thesis)</a:t>
            </a:r>
            <a:endParaRPr lang="en-US" sz="1500" dirty="0"/>
          </a:p>
          <a:p>
            <a:pPr indent="0" marL="0">
              <a:buNone/>
            </a:pPr>
            <a:r>
              <a:rPr lang="en-US" sz="1500" u="sng" dirty="0">
                <a:solidFill>
                  <a:schemeClr val="bg1"/>
                </a:solidFill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cora.ucc.ie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uture Teal">
  <a:themeElements>
    <a:clrScheme name="Suture Teal">
      <a:dk1>
        <a:srgbClr val="1D2B2A"/>
      </a:dk1>
      <a:lt1>
        <a:srgbClr val="FFFFFF"/>
      </a:lt1>
      <a:dk2>
        <a:srgbClr val="0B3D3A"/>
      </a:dk2>
      <a:lt2>
        <a:srgbClr val="EAF6F1"/>
      </a:lt2>
      <a:accent1>
        <a:srgbClr val="1F8A70"/>
      </a:accent1>
      <a:accent2>
        <a:srgbClr val="FF6B5B"/>
      </a:accent2>
      <a:accent3>
        <a:srgbClr val="6C5CE7"/>
      </a:accent3>
      <a:accent4>
        <a:srgbClr val="F2B33D"/>
      </a:accent4>
      <a:accent5>
        <a:srgbClr val="9ED9C3"/>
      </a:accent5>
      <a:accent6>
        <a:srgbClr val="7A8C89"/>
      </a:accent6>
      <a:hlink>
        <a:srgbClr val="1F8A70"/>
      </a:hlink>
      <a:folHlink>
        <a:srgbClr val="6C5CE7"/>
      </a:folHlink>
    </a:clrScheme>
    <a:fontScheme name="Suture Teal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Surgical skill assessment from video and the GRM search</dc:title>
  <dc:subject>PptxGenJS Presentation</dc:subject>
  <dc:creator>Saeid Rezaei</dc:creator>
  <cp:lastModifiedBy>Saeid Rezaei</cp:lastModifiedBy>
  <cp:revision>1</cp:revision>
  <dcterms:created xsi:type="dcterms:W3CDTF">2026-10-17T16:34:53Z</dcterms:created>
  <dcterms:modified xsi:type="dcterms:W3CDTF">2026-10-17T16:34:53Z</dcterms:modified>
</cp:coreProperties>
</file>